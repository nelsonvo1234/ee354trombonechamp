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565998f08541af" /><Relationship Type="http://schemas.openxmlformats.org/officeDocument/2006/relationships/extended-properties" Target="/docProps/app.xml" Id="R4f1ca28943074d02" /><Relationship Type="http://schemas.openxmlformats.org/officeDocument/2006/relationships/officeDocument" Target="/ppt/presentation.xml" Id="R87b220b927564e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11fe16571e494e"/>
  </p:sldMasterIdLst>
  <p:notesMasterIdLst>
    <p:notesMasterId xmlns:r="http://schemas.openxmlformats.org/officeDocument/2006/relationships" r:id="R81660fb015f54144"/>
  </p:notesMasterIdLst>
  <p:sldIdLst>
    <p:sldId xmlns:r="http://schemas.openxmlformats.org/officeDocument/2006/relationships" id="256" r:id="R0bb0e8d8e6f941a0"/>
    <p:sldId xmlns:r="http://schemas.openxmlformats.org/officeDocument/2006/relationships" id="257" r:id="Rf5e17d120e5d42af"/>
    <p:sldId xmlns:r="http://schemas.openxmlformats.org/officeDocument/2006/relationships" id="258" r:id="R6c66843c16ba4400"/>
    <p:sldId xmlns:r="http://schemas.openxmlformats.org/officeDocument/2006/relationships" id="259" r:id="Ra3c96edef5284f95"/>
    <p:sldId xmlns:r="http://schemas.openxmlformats.org/officeDocument/2006/relationships" id="260" r:id="R3c5517146add42d3"/>
    <p:sldId xmlns:r="http://schemas.openxmlformats.org/officeDocument/2006/relationships" id="261" r:id="Rdf3ad82c398441ea"/>
    <p:sldId xmlns:r="http://schemas.openxmlformats.org/officeDocument/2006/relationships" id="262" r:id="R92fa4f4ab767484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1fe16571e494e" /><Relationship Type="http://schemas.openxmlformats.org/officeDocument/2006/relationships/theme" Target="/ppt/theme/theme1.xml" Id="Rb54e004e18bd491e" /><Relationship Type="http://schemas.openxmlformats.org/officeDocument/2006/relationships/notesMaster" Target="/ppt/notesMasters/notesMaster1.xml" Id="R81660fb015f54144" /><Relationship Type="http://schemas.openxmlformats.org/officeDocument/2006/relationships/presProps" Target="/ppt/presProps.xml" Id="R59164515ed544344" /><Relationship Type="http://schemas.openxmlformats.org/officeDocument/2006/relationships/viewProps" Target="/ppt/viewProps.xml" Id="Rde9deabf84a24d65" /><Relationship Type="http://schemas.openxmlformats.org/officeDocument/2006/relationships/tableStyles" Target="/ppt/tableStyles.xml" Id="R3feca6d77daf4ff5" /><Relationship Type="http://schemas.openxmlformats.org/officeDocument/2006/relationships/slide" Target="/ppt/slides/slide1.xml" Id="R0bb0e8d8e6f941a0" /><Relationship Type="http://schemas.openxmlformats.org/officeDocument/2006/relationships/slide" Target="/ppt/slides/slide2.xml" Id="Rf5e17d120e5d42af" /><Relationship Type="http://schemas.openxmlformats.org/officeDocument/2006/relationships/slide" Target="/ppt/slides/slide3.xml" Id="R6c66843c16ba4400" /><Relationship Type="http://schemas.openxmlformats.org/officeDocument/2006/relationships/slide" Target="/ppt/slides/slide4.xml" Id="Ra3c96edef5284f95" /><Relationship Type="http://schemas.openxmlformats.org/officeDocument/2006/relationships/slide" Target="/ppt/slides/slide5.xml" Id="R3c5517146add42d3" /><Relationship Type="http://schemas.openxmlformats.org/officeDocument/2006/relationships/slide" Target="/ppt/slides/slide6.xml" Id="Rdf3ad82c398441ea" /><Relationship Type="http://schemas.openxmlformats.org/officeDocument/2006/relationships/slide" Target="/ppt/slides/slide7.xml" Id="R92fa4f4ab76748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14b88763ed74c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d7c891688e4f70" /><Relationship Type="http://schemas.openxmlformats.org/officeDocument/2006/relationships/notesMaster" Target="/ppt/notesMasters/notesMaster1.xml" Id="R6f7110e6333e48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d6a51dcada40fd" /><Relationship Type="http://schemas.openxmlformats.org/officeDocument/2006/relationships/notesMaster" Target="/ppt/notesMasters/notesMaster1.xml" Id="Rfff6e550f3df4d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ba78da92a24191" /><Relationship Type="http://schemas.openxmlformats.org/officeDocument/2006/relationships/notesMaster" Target="/ppt/notesMasters/notesMaster1.xml" Id="Rd629a437bfbb44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d7ab1b2a1e4a6f" /><Relationship Type="http://schemas.openxmlformats.org/officeDocument/2006/relationships/notesMaster" Target="/ppt/notesMasters/notesMaster1.xml" Id="Ref846cc74b6b4f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91347ee71d4d48" /><Relationship Type="http://schemas.openxmlformats.org/officeDocument/2006/relationships/notesMaster" Target="/ppt/notesMasters/notesMaster1.xml" Id="R2c071db415b046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a374f3586241c7" /><Relationship Type="http://schemas.openxmlformats.org/officeDocument/2006/relationships/notesMaster" Target="/ppt/notesMasters/notesMaster1.xml" Id="R88d2133baa6b40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57b628b46f494e" /><Relationship Type="http://schemas.openxmlformats.org/officeDocument/2006/relationships/notesMaster" Target="/ppt/notesMasters/notesMaster1.xml" Id="R63f993d31f914d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1bc85f97d441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80ad01c09d448c0" /><Relationship Type="http://schemas.openxmlformats.org/officeDocument/2006/relationships/slideLayout" Target="/ppt/slideLayouts/slideLayout2.xml" Id="Rb2370ac1347c49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370ac1347c49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fbc2f54a8f422b" /><Relationship Type="http://schemas.openxmlformats.org/officeDocument/2006/relationships/notesSlide" Target="/ppt/notesSlides/notesSlide1.xml" Id="R61f7eabc88794f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13cbbb87224c45" /><Relationship Type="http://schemas.openxmlformats.org/officeDocument/2006/relationships/notesSlide" Target="/ppt/notesSlides/notesSlide2.xml" Id="R969d00d875534f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6e797b72b84b62" /><Relationship Type="http://schemas.openxmlformats.org/officeDocument/2006/relationships/notesSlide" Target="/ppt/notesSlides/notesSlide3.xml" Id="R1af1c1b4088742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da20f178e14163" /><Relationship Type="http://schemas.openxmlformats.org/officeDocument/2006/relationships/notesSlide" Target="/ppt/notesSlides/notesSlide4.xml" Id="R7e772b67db3942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401d7594594266" /><Relationship Type="http://schemas.openxmlformats.org/officeDocument/2006/relationships/notesSlide" Target="/ppt/notesSlides/notesSlide5.xml" Id="Ra80883b0ac0e46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69e408e0354d47" /><Relationship Type="http://schemas.openxmlformats.org/officeDocument/2006/relationships/notesSlide" Target="/ppt/notesSlides/notesSlide6.xml" Id="R8b2572afbe294c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a3844f4578498c" /><Relationship Type="http://schemas.openxmlformats.org/officeDocument/2006/relationships/notesSlide" Target="/ppt/notesSlides/notesSlide7.xml" Id="R284801f7c80947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3C2DC648-83C7-4166-B174-4A98143A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10EE9BD-787E-44E6-BB35-11E7E03C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07823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8FAFC"/>
                </a:solidFill>
              </a:defRPr>
            </a:pPr>
            <a:r>
              <a:rPr sz="6150" b="1">
                <a:solidFill>
                  <a:srgbClr val="F8FAFC"/>
                </a:solidFill>
              </a:rPr>
              <a:t>Berry Collection System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AF750A5-E58E-4550-BC95-1B151B76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8934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B8C7D9"/>
                </a:solidFill>
              </a:defRPr>
            </a:pPr>
            <a:r>
              <a:rPr sz="2325">
                <a:solidFill>
                  <a:srgbClr val="B8C7D9"/>
                </a:solidFill>
              </a:rPr>
              <a:t>How the Artix-7 game tracks, draws, collects, scores, celebrates, and resets strawberries.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4A17B25B-EC78-4FA6-BF45-D5C347AF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F43F5E"/>
            </a:solidFill>
            <a:prstDash val="solid"/>
          </a:ln>
        </p:spPr>
      </p:sp>
      <p:sp>
        <p:nvSpPr>
          <p:cNvPr id="5" name="cover-art-stage">
            <a:extLst xmlns:a="http://schemas.openxmlformats.org/drawingml/2006/main">
              <a:ext uri="{FF2B5EF4-FFF2-40B4-BE49-F238E27FC236}">
                <a16:creationId xmlns:a16="http://schemas.microsoft.com/office/drawing/2014/main" id="{91EF6602-D9FC-44D1-ADDF-8BB18F80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476500"/>
            <a:ext cx="533400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0B1626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FA901-08B0-4B56-8BB2-A9506E76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771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19C5D-E0EA-4E3C-A59E-F865165F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3771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9BF33-407C-44C3-BC26-CB7948BC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3771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CAD03-B666-42B7-BA1C-53FDD62F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3771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ECAEC-020F-455A-AC4D-7456D41D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3434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458E0-8672-4C64-93B3-2DBB98B2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43434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24807-C629-48F2-9CBD-025DE5E3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43434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EDF01-07A2-45AE-892D-78026AB4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43434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D6279-AA7A-4DB4-AF35-72019E6F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876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68E8A-6803-477A-80C3-7D41FA1C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4876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900A9-7240-48F4-8273-ACD7FF3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4876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F7358-4416-429E-862D-9F63FA35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4876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13C1E-2886-4C3D-B405-60B65D2F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448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0C793-79E1-4C9C-BACC-E6D3A714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5448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AEAE4-3CBC-4FEB-85F7-790AF5B2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5448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472EE-5C40-45B3-9BC0-64D245B8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5448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22" name="cover-chip">
            <a:extLst xmlns:a="http://schemas.openxmlformats.org/drawingml/2006/main">
              <a:ext uri="{FF2B5EF4-FFF2-40B4-BE49-F238E27FC236}">
                <a16:creationId xmlns:a16="http://schemas.microsoft.com/office/drawing/2014/main" id="{8C18A43C-CAFB-4E9A-97C4-C51CC8BA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229350"/>
            <a:ext cx="4648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BBF24"/>
                </a:solidFill>
              </a:defRPr>
            </a:pPr>
            <a:r>
              <a:rPr sz="1875" b="1">
                <a:solidFill>
                  <a:srgbClr val="FBBF24"/>
                </a:solidFill>
              </a:rPr>
              <a:t>5 persistent berries · 1-cycle score pulse</a:t>
            </a:r>
          </a:p>
        </p:txBody>
      </p:sp>
    </p:spTree>
    <p:extLst>
      <p:ext uri="{BB962C8B-B14F-4D97-AF65-F5344CB8AC3E}">
        <p14:creationId xmlns:p14="http://schemas.microsoft.com/office/powerpoint/2010/main" val="3455234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6D6D6D81-EDC8-4C85-B306-C0F36C85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D179C-793D-4780-B91E-9A788DFF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6649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The berry system is a tiny state machine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7C6FAED-92AA-4BCE-BBDE-66698191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9220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8C7D9"/>
                </a:solidFill>
              </a:defRPr>
            </a:pPr>
            <a:r>
              <a:rPr sz="1875">
                <a:solidFill>
                  <a:srgbClr val="B8C7D9"/>
                </a:solidFill>
              </a:rPr>
              <a:t>VGA rendering asks “what tile is here?” while gameplay asks “did the player touch a live berry?”</a:t>
            </a:r>
          </a:p>
        </p:txBody>
      </p:sp>
      <p:sp>
        <p:nvSpPr>
          <p:cNvPr id="4" name="info-Tile map">
            <a:extLst xmlns:a="http://schemas.openxmlformats.org/drawingml/2006/main">
              <a:ext uri="{FF2B5EF4-FFF2-40B4-BE49-F238E27FC236}">
                <a16:creationId xmlns:a16="http://schemas.microsoft.com/office/drawing/2014/main" id="{C316FC24-1919-4A5E-A56B-7A95FD66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25622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2244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72F48-6768-452D-931F-7CE7B99A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10200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3F5E"/>
                </a:solidFill>
              </a:defRPr>
            </a:pPr>
            <a:r>
              <a:rPr sz="2100" b="1">
                <a:solidFill>
                  <a:srgbClr val="F43F5E"/>
                </a:solidFill>
              </a:rPr>
              <a:t>Tile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B357E-521E-42BC-8288-6860127F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48350"/>
            <a:ext cx="20383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`tile_at_tile()` marks live berry tiles as `STRAWBERRY`.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38208-E45A-4A14-8A1B-D2550B3D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76900"/>
            <a:ext cx="1714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BBF24"/>
                </a:solidFill>
              </a:defRPr>
            </a:pPr>
            <a:r>
              <a:rPr sz="3150" b="1">
                <a:solidFill>
                  <a:srgbClr val="FBBF24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8D028-3C19-4BD5-88A6-91811EF6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531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890AA"/>
                </a:solidFill>
              </a:defRPr>
            </a:pPr>
            <a:r>
              <a:rPr sz="1050">
                <a:solidFill>
                  <a:srgbClr val="7890AA"/>
                </a:solidFill>
              </a:rPr>
              <a:t>draws</a:t>
            </a:r>
          </a:p>
        </p:txBody>
      </p:sp>
      <p:sp>
        <p:nvSpPr>
          <p:cNvPr id="9" name="info-Sprite ROM">
            <a:extLst xmlns:a="http://schemas.openxmlformats.org/drawingml/2006/main">
              <a:ext uri="{FF2B5EF4-FFF2-40B4-BE49-F238E27FC236}">
                <a16:creationId xmlns:a16="http://schemas.microsoft.com/office/drawing/2014/main" id="{D8B886A7-6CC0-45AD-B2BB-83995D0D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181600"/>
            <a:ext cx="25622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2244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1F215-333C-4533-AFDE-05A2D5C5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10200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4D399"/>
                </a:solidFill>
              </a:defRPr>
            </a:pPr>
            <a:r>
              <a:rPr sz="2100" b="1">
                <a:solidFill>
                  <a:srgbClr val="34D399"/>
                </a:solidFill>
              </a:rPr>
              <a:t>Sprite ROM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FA586-0E20-4C4C-ADDE-72C7182D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48350"/>
            <a:ext cx="20383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VGA samples the strawberry frame and outputs 12-bit RGB.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82AC5-0C29-480B-9114-0AA432C3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76900"/>
            <a:ext cx="1714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BBF24"/>
                </a:solidFill>
              </a:defRPr>
            </a:pPr>
            <a:r>
              <a:rPr sz="3150" b="1">
                <a:solidFill>
                  <a:srgbClr val="FBBF2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99BE5-B877-4F81-85BE-3971ADF0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531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890AA"/>
                </a:solidFill>
              </a:defRPr>
            </a:pPr>
            <a:r>
              <a:rPr sz="1050">
                <a:solidFill>
                  <a:srgbClr val="7890AA"/>
                </a:solidFill>
              </a:rPr>
              <a:t>touches</a:t>
            </a:r>
          </a:p>
        </p:txBody>
      </p:sp>
      <p:sp>
        <p:nvSpPr>
          <p:cNvPr id="14" name="info-Berry FSM">
            <a:extLst xmlns:a="http://schemas.openxmlformats.org/drawingml/2006/main">
              <a:ext uri="{FF2B5EF4-FFF2-40B4-BE49-F238E27FC236}">
                <a16:creationId xmlns:a16="http://schemas.microsoft.com/office/drawing/2014/main" id="{E00B034A-0B7F-426F-8E29-02DD35CA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81600"/>
            <a:ext cx="25622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2244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87D4D-3FE8-4854-BDA1-E5D3930B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410200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BBF24"/>
                </a:solidFill>
              </a:defRPr>
            </a:pPr>
            <a:r>
              <a:rPr sz="2100" b="1">
                <a:solidFill>
                  <a:srgbClr val="FBBF24"/>
                </a:solidFill>
              </a:rPr>
              <a:t>Berry FSM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53ABD-8EFF-4106-B2EC-EA4807AE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848350"/>
            <a:ext cx="20383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A touched berry clears one bit and emits `collect_berry`.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6BF84-D0F3-4698-8D25-1EFA6380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5676900"/>
            <a:ext cx="1714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BBF24"/>
                </a:solidFill>
              </a:defRPr>
            </a:pPr>
            <a:r>
              <a:rPr sz="3150" b="1">
                <a:solidFill>
                  <a:srgbClr val="FBBF24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3DB38-7B3E-4A83-88DE-59DC8FE0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61531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890AA"/>
                </a:solidFill>
              </a:defRPr>
            </a:pPr>
            <a:r>
              <a:rPr sz="1050">
                <a:solidFill>
                  <a:srgbClr val="7890AA"/>
                </a:solidFill>
              </a:rPr>
              <a:t>scores</a:t>
            </a:r>
          </a:p>
        </p:txBody>
      </p:sp>
      <p:sp>
        <p:nvSpPr>
          <p:cNvPr id="19" name="info-Score">
            <a:extLst xmlns:a="http://schemas.openxmlformats.org/drawingml/2006/main">
              <a:ext uri="{FF2B5EF4-FFF2-40B4-BE49-F238E27FC236}">
                <a16:creationId xmlns:a16="http://schemas.microsoft.com/office/drawing/2014/main" id="{C13B6C32-4B22-4FBB-8858-BC304D1F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5181600"/>
            <a:ext cx="2562225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2244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6A153-E547-4163-88A2-54DB5E71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5410200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D3EE"/>
                </a:solidFill>
              </a:defRPr>
            </a:pPr>
            <a:r>
              <a:rPr sz="2100" b="1">
                <a:solidFill>
                  <a:srgbClr val="22D3EE"/>
                </a:solidFill>
              </a:rPr>
              <a:t>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0EAE1-079B-4B75-B6E6-9CA5C31C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5848350"/>
            <a:ext cx="20383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One pulse increments the SSD counter by exactly one.</a:t>
            </a:r>
          </a:p>
        </p:txBody>
      </p:sp>
    </p:spTree>
    <p:extLst>
      <p:ext uri="{BB962C8B-B14F-4D97-AF65-F5344CB8AC3E}">
        <p14:creationId xmlns:p14="http://schemas.microsoft.com/office/powerpoint/2010/main" val="1297546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48E7F712-2A38-4998-A96D-6C98933B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93EF78-1116-47F7-BF46-9EF7CF45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6649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Each strawberry is a 2×2 tile footprint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6AC54D9-3BE7-4508-B60E-99457D93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9658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8C7D9"/>
                </a:solidFill>
              </a:defRPr>
            </a:pPr>
            <a:r>
              <a:rPr sz="1875">
                <a:solidFill>
                  <a:srgbClr val="B8C7D9"/>
                </a:solidFill>
              </a:rPr>
              <a:t>The coordinate is the top-left tile; the mask covers four tiles so the visual and collectible area match.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8CB41-99D1-4728-A664-447EC740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68580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224466"/>
            </a:solidFill>
            <a:prstDash val="solid"/>
          </a:ln>
        </p:spPr>
      </p:sp>
      <p:sp>
        <p:nvSpPr>
          <p:cNvPr id="5" name="cell-0-0">
            <a:extLst xmlns:a="http://schemas.openxmlformats.org/drawingml/2006/main">
              <a:ext uri="{FF2B5EF4-FFF2-40B4-BE49-F238E27FC236}">
                <a16:creationId xmlns:a16="http://schemas.microsoft.com/office/drawing/2014/main" id="{5E03C57F-2CEF-42E0-80CB-D475471F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81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6" name="cell-1-0">
            <a:extLst xmlns:a="http://schemas.openxmlformats.org/drawingml/2006/main">
              <a:ext uri="{FF2B5EF4-FFF2-40B4-BE49-F238E27FC236}">
                <a16:creationId xmlns:a16="http://schemas.microsoft.com/office/drawing/2014/main" id="{EFBFAAF1-4BAC-475E-AC23-318682D1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81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7" name="cell-2-0">
            <a:extLst xmlns:a="http://schemas.openxmlformats.org/drawingml/2006/main">
              <a:ext uri="{FF2B5EF4-FFF2-40B4-BE49-F238E27FC236}">
                <a16:creationId xmlns:a16="http://schemas.microsoft.com/office/drawing/2014/main" id="{FC8CFE77-6139-420D-BF5F-EE9D3C12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81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8" name="cell-3-0">
            <a:extLst xmlns:a="http://schemas.openxmlformats.org/drawingml/2006/main">
              <a:ext uri="{FF2B5EF4-FFF2-40B4-BE49-F238E27FC236}">
                <a16:creationId xmlns:a16="http://schemas.microsoft.com/office/drawing/2014/main" id="{9BE571BC-FEBE-4C4E-B235-A8103B54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81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9" name="cell-4-0">
            <a:extLst xmlns:a="http://schemas.openxmlformats.org/drawingml/2006/main">
              <a:ext uri="{FF2B5EF4-FFF2-40B4-BE49-F238E27FC236}">
                <a16:creationId xmlns:a16="http://schemas.microsoft.com/office/drawing/2014/main" id="{5053BE57-207E-43E9-9FA9-46021301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81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0" name="cell-5-0">
            <a:extLst xmlns:a="http://schemas.openxmlformats.org/drawingml/2006/main">
              <a:ext uri="{FF2B5EF4-FFF2-40B4-BE49-F238E27FC236}">
                <a16:creationId xmlns:a16="http://schemas.microsoft.com/office/drawing/2014/main" id="{A11B6034-852F-4888-9805-B43FB54F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81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1" name="cell-6-0">
            <a:extLst xmlns:a="http://schemas.openxmlformats.org/drawingml/2006/main">
              <a:ext uri="{FF2B5EF4-FFF2-40B4-BE49-F238E27FC236}">
                <a16:creationId xmlns:a16="http://schemas.microsoft.com/office/drawing/2014/main" id="{62495863-46BF-4141-9E4B-DDE6E945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81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2" name="cell-7-0">
            <a:extLst xmlns:a="http://schemas.openxmlformats.org/drawingml/2006/main">
              <a:ext uri="{FF2B5EF4-FFF2-40B4-BE49-F238E27FC236}">
                <a16:creationId xmlns:a16="http://schemas.microsoft.com/office/drawing/2014/main" id="{2557F63C-B140-4A29-AF25-8DCB0EA6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9B5A5EB3-61BC-4E79-8A60-5B2B307B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53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4" name="cell-1-1">
            <a:extLst xmlns:a="http://schemas.openxmlformats.org/drawingml/2006/main">
              <a:ext uri="{FF2B5EF4-FFF2-40B4-BE49-F238E27FC236}">
                <a16:creationId xmlns:a16="http://schemas.microsoft.com/office/drawing/2014/main" id="{318D44C8-2E52-43A3-A597-8CEF119D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53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5" name="cell-2-1">
            <a:extLst xmlns:a="http://schemas.openxmlformats.org/drawingml/2006/main">
              <a:ext uri="{FF2B5EF4-FFF2-40B4-BE49-F238E27FC236}">
                <a16:creationId xmlns:a16="http://schemas.microsoft.com/office/drawing/2014/main" id="{BE5C6BAA-67DB-4A0B-901A-423A1100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53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6" name="cell-3-1">
            <a:extLst xmlns:a="http://schemas.openxmlformats.org/drawingml/2006/main">
              <a:ext uri="{FF2B5EF4-FFF2-40B4-BE49-F238E27FC236}">
                <a16:creationId xmlns:a16="http://schemas.microsoft.com/office/drawing/2014/main" id="{8F79960A-14E7-4DDD-A268-FF5CF92E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53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7" name="cell-4-1">
            <a:extLst xmlns:a="http://schemas.openxmlformats.org/drawingml/2006/main">
              <a:ext uri="{FF2B5EF4-FFF2-40B4-BE49-F238E27FC236}">
                <a16:creationId xmlns:a16="http://schemas.microsoft.com/office/drawing/2014/main" id="{5E1100FA-730B-45B5-ACF0-94F2FB08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8" name="cell-5-1">
            <a:extLst xmlns:a="http://schemas.openxmlformats.org/drawingml/2006/main">
              <a:ext uri="{FF2B5EF4-FFF2-40B4-BE49-F238E27FC236}">
                <a16:creationId xmlns:a16="http://schemas.microsoft.com/office/drawing/2014/main" id="{F8BFF40C-F76F-48D8-BB30-9A63C973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53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9" name="cell-6-1">
            <a:extLst xmlns:a="http://schemas.openxmlformats.org/drawingml/2006/main">
              <a:ext uri="{FF2B5EF4-FFF2-40B4-BE49-F238E27FC236}">
                <a16:creationId xmlns:a16="http://schemas.microsoft.com/office/drawing/2014/main" id="{B6DF5964-869D-4CEE-8EAF-2AB2C56B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53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0" name="cell-7-1">
            <a:extLst xmlns:a="http://schemas.openxmlformats.org/drawingml/2006/main">
              <a:ext uri="{FF2B5EF4-FFF2-40B4-BE49-F238E27FC236}">
                <a16:creationId xmlns:a16="http://schemas.microsoft.com/office/drawing/2014/main" id="{EAD872A0-E516-4049-BCAA-A5137477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1" name="cell-0-2">
            <a:extLst xmlns:a="http://schemas.openxmlformats.org/drawingml/2006/main">
              <a:ext uri="{FF2B5EF4-FFF2-40B4-BE49-F238E27FC236}">
                <a16:creationId xmlns:a16="http://schemas.microsoft.com/office/drawing/2014/main" id="{6F76F04D-A0F1-478D-BC13-BF0E788C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2" name="cell-1-2">
            <a:extLst xmlns:a="http://schemas.openxmlformats.org/drawingml/2006/main">
              <a:ext uri="{FF2B5EF4-FFF2-40B4-BE49-F238E27FC236}">
                <a16:creationId xmlns:a16="http://schemas.microsoft.com/office/drawing/2014/main" id="{15599AB6-F795-43F4-A854-1031A7AE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864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3" name="cell-2-2">
            <a:extLst xmlns:a="http://schemas.openxmlformats.org/drawingml/2006/main">
              <a:ext uri="{FF2B5EF4-FFF2-40B4-BE49-F238E27FC236}">
                <a16:creationId xmlns:a16="http://schemas.microsoft.com/office/drawing/2014/main" id="{770EB3D0-1C72-4C1C-8558-23D01D39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864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4" name="cell-3-2">
            <a:extLst xmlns:a="http://schemas.openxmlformats.org/drawingml/2006/main">
              <a:ext uri="{FF2B5EF4-FFF2-40B4-BE49-F238E27FC236}">
                <a16:creationId xmlns:a16="http://schemas.microsoft.com/office/drawing/2014/main" id="{2CDF4533-8D0E-4B30-A5B8-E64E0AEF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4864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5" name="cell-4-2">
            <a:extLst xmlns:a="http://schemas.openxmlformats.org/drawingml/2006/main">
              <a:ext uri="{FF2B5EF4-FFF2-40B4-BE49-F238E27FC236}">
                <a16:creationId xmlns:a16="http://schemas.microsoft.com/office/drawing/2014/main" id="{6557D3DB-D414-4927-A796-46B73260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864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6" name="cell-5-2">
            <a:extLst xmlns:a="http://schemas.openxmlformats.org/drawingml/2006/main">
              <a:ext uri="{FF2B5EF4-FFF2-40B4-BE49-F238E27FC236}">
                <a16:creationId xmlns:a16="http://schemas.microsoft.com/office/drawing/2014/main" id="{07D61A0C-E49B-4D34-AC48-FC451F20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864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7" name="cell-6-2">
            <a:extLst xmlns:a="http://schemas.openxmlformats.org/drawingml/2006/main">
              <a:ext uri="{FF2B5EF4-FFF2-40B4-BE49-F238E27FC236}">
                <a16:creationId xmlns:a16="http://schemas.microsoft.com/office/drawing/2014/main" id="{82814498-3205-4631-B9F6-842F8E39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864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8" name="cell-7-2">
            <a:extLst xmlns:a="http://schemas.openxmlformats.org/drawingml/2006/main">
              <a:ext uri="{FF2B5EF4-FFF2-40B4-BE49-F238E27FC236}">
                <a16:creationId xmlns:a16="http://schemas.microsoft.com/office/drawing/2014/main" id="{258FD128-B9ED-40D5-8044-0BBD27E9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864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9" name="cell-0-3">
            <a:extLst xmlns:a="http://schemas.openxmlformats.org/drawingml/2006/main">
              <a:ext uri="{FF2B5EF4-FFF2-40B4-BE49-F238E27FC236}">
                <a16:creationId xmlns:a16="http://schemas.microsoft.com/office/drawing/2014/main" id="{5BA01C6C-F3D2-40C9-9B6E-6D05BFDD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057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0" name="cell-1-3">
            <a:extLst xmlns:a="http://schemas.openxmlformats.org/drawingml/2006/main">
              <a:ext uri="{FF2B5EF4-FFF2-40B4-BE49-F238E27FC236}">
                <a16:creationId xmlns:a16="http://schemas.microsoft.com/office/drawing/2014/main" id="{006BDB0B-BB5E-429E-AA44-C17DF03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57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1" name="cell-2-3">
            <a:extLst xmlns:a="http://schemas.openxmlformats.org/drawingml/2006/main">
              <a:ext uri="{FF2B5EF4-FFF2-40B4-BE49-F238E27FC236}">
                <a16:creationId xmlns:a16="http://schemas.microsoft.com/office/drawing/2014/main" id="{C2E98D18-4D45-4EC1-B837-8234C356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057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2" name="cell-3-3">
            <a:extLst xmlns:a="http://schemas.openxmlformats.org/drawingml/2006/main">
              <a:ext uri="{FF2B5EF4-FFF2-40B4-BE49-F238E27FC236}">
                <a16:creationId xmlns:a16="http://schemas.microsoft.com/office/drawing/2014/main" id="{E0C18821-82D0-4F93-828D-CBB3BEFF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57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3" name="cell-4-3">
            <a:extLst xmlns:a="http://schemas.openxmlformats.org/drawingml/2006/main">
              <a:ext uri="{FF2B5EF4-FFF2-40B4-BE49-F238E27FC236}">
                <a16:creationId xmlns:a16="http://schemas.microsoft.com/office/drawing/2014/main" id="{80595B4C-F297-4B47-A648-EC370F2F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057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4" name="cell-5-3">
            <a:extLst xmlns:a="http://schemas.openxmlformats.org/drawingml/2006/main">
              <a:ext uri="{FF2B5EF4-FFF2-40B4-BE49-F238E27FC236}">
                <a16:creationId xmlns:a16="http://schemas.microsoft.com/office/drawing/2014/main" id="{33C22B7D-37B2-4B5F-A2D0-4A817EC8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057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5" name="cell-6-3">
            <a:extLst xmlns:a="http://schemas.openxmlformats.org/drawingml/2006/main">
              <a:ext uri="{FF2B5EF4-FFF2-40B4-BE49-F238E27FC236}">
                <a16:creationId xmlns:a16="http://schemas.microsoft.com/office/drawing/2014/main" id="{FC4E8E81-2983-40CE-8E0F-A606A196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057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6" name="cell-7-3">
            <a:extLst xmlns:a="http://schemas.openxmlformats.org/drawingml/2006/main">
              <a:ext uri="{FF2B5EF4-FFF2-40B4-BE49-F238E27FC236}">
                <a16:creationId xmlns:a16="http://schemas.microsoft.com/office/drawing/2014/main" id="{CD3BF5AD-681A-492E-9D50-56A3B070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057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7" name="cell-0-4">
            <a:extLst xmlns:a="http://schemas.openxmlformats.org/drawingml/2006/main">
              <a:ext uri="{FF2B5EF4-FFF2-40B4-BE49-F238E27FC236}">
                <a16:creationId xmlns:a16="http://schemas.microsoft.com/office/drawing/2014/main" id="{A280F921-C8D1-4DE5-B934-2A5DA253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91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8" name="cell-1-4">
            <a:extLst xmlns:a="http://schemas.openxmlformats.org/drawingml/2006/main">
              <a:ext uri="{FF2B5EF4-FFF2-40B4-BE49-F238E27FC236}">
                <a16:creationId xmlns:a16="http://schemas.microsoft.com/office/drawing/2014/main" id="{F4F8D391-1AD4-4B68-91A0-F08D1F99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591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9" name="cell-2-4">
            <a:extLst xmlns:a="http://schemas.openxmlformats.org/drawingml/2006/main">
              <a:ext uri="{FF2B5EF4-FFF2-40B4-BE49-F238E27FC236}">
                <a16:creationId xmlns:a16="http://schemas.microsoft.com/office/drawing/2014/main" id="{B3324756-03E0-4DE0-AE0F-2A77D765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591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40" name="cell-3-4">
            <a:extLst xmlns:a="http://schemas.openxmlformats.org/drawingml/2006/main">
              <a:ext uri="{FF2B5EF4-FFF2-40B4-BE49-F238E27FC236}">
                <a16:creationId xmlns:a16="http://schemas.microsoft.com/office/drawing/2014/main" id="{063DC94D-9E72-48DA-92D4-828A43D4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91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41" name="cell-4-4">
            <a:extLst xmlns:a="http://schemas.openxmlformats.org/drawingml/2006/main">
              <a:ext uri="{FF2B5EF4-FFF2-40B4-BE49-F238E27FC236}">
                <a16:creationId xmlns:a16="http://schemas.microsoft.com/office/drawing/2014/main" id="{8DA8126D-24C5-4E3D-8055-9119ED23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91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42" name="cell-5-4">
            <a:extLst xmlns:a="http://schemas.openxmlformats.org/drawingml/2006/main">
              <a:ext uri="{FF2B5EF4-FFF2-40B4-BE49-F238E27FC236}">
                <a16:creationId xmlns:a16="http://schemas.microsoft.com/office/drawing/2014/main" id="{BCDE8444-1C3B-496B-9265-9DAC65D7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591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43" name="cell-6-4">
            <a:extLst xmlns:a="http://schemas.openxmlformats.org/drawingml/2006/main">
              <a:ext uri="{FF2B5EF4-FFF2-40B4-BE49-F238E27FC236}">
                <a16:creationId xmlns:a16="http://schemas.microsoft.com/office/drawing/2014/main" id="{F233C068-EF4B-41A9-A8A8-D16796E0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591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44" name="cell-7-4">
            <a:extLst xmlns:a="http://schemas.openxmlformats.org/drawingml/2006/main">
              <a:ext uri="{FF2B5EF4-FFF2-40B4-BE49-F238E27FC236}">
                <a16:creationId xmlns:a16="http://schemas.microsoft.com/office/drawing/2014/main" id="{F55B37FE-E198-46B4-94FB-2149A061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591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40D9E4-BCBA-4386-8CF1-3F215C8F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33425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9"/>
                </a:solidFill>
              </a:defRPr>
            </a:pPr>
            <a:r>
              <a:rPr sz="1800">
                <a:solidFill>
                  <a:srgbClr val="B8C7D9"/>
                </a:solidFill>
              </a:rPr>
              <a:t>A berry at (2, 1) occupies (2..3, 1..2)</a:t>
            </a:r>
          </a:p>
        </p:txBody>
      </p:sp>
      <p:sp>
        <p:nvSpPr>
          <p:cNvPr id="46" name="code-localparam">
            <a:extLst xmlns:a="http://schemas.openxmlformats.org/drawingml/2006/main">
              <a:ext uri="{FF2B5EF4-FFF2-40B4-BE49-F238E27FC236}">
                <a16:creationId xmlns:a16="http://schemas.microsoft.com/office/drawing/2014/main" id="{E3BA05C8-01E1-466D-923B-E2F55003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33950"/>
            <a:ext cx="9220200" cy="464820"/>
          </a:xfrm>
          <a:prstGeom xmlns:a="http://schemas.openxmlformats.org/drawingml/2006/main" prst="roundRect">
            <a:avLst>
              <a:gd name="adj" fmla="val 12295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1D3551"/>
            </a:solidFill>
            <a:prstDash val="solid"/>
          </a:ln>
        </p:spPr>
      </p:sp>
      <p:sp>
        <p:nvSpPr>
          <p:cNvPr id="47" name="code-text-localparam">
            <a:extLst xmlns:a="http://schemas.openxmlformats.org/drawingml/2006/main">
              <a:ext uri="{FF2B5EF4-FFF2-40B4-BE49-F238E27FC236}">
                <a16:creationId xmlns:a16="http://schemas.microsoft.com/office/drawing/2014/main" id="{1D2AEAF4-0C82-4AB4-94C2-07F4D12C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29200"/>
            <a:ext cx="8877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BBF24"/>
                </a:solidFill>
              </a:defRPr>
            </a:pPr>
            <a:r>
              <a:rPr sz="1800">
                <a:solidFill>
                  <a:srgbClr val="FBBF24"/>
                </a:solidFill>
              </a:rPr>
              <a:t>localparam BERRY_COUNT = 5;</a:t>
            </a:r>
          </a:p>
        </p:txBody>
      </p:sp>
      <p:sp>
        <p:nvSpPr>
          <p:cNvPr id="48" name="code-BERRY0_X,">
            <a:extLst xmlns:a="http://schemas.openxmlformats.org/drawingml/2006/main">
              <a:ext uri="{FF2B5EF4-FFF2-40B4-BE49-F238E27FC236}">
                <a16:creationId xmlns:a16="http://schemas.microsoft.com/office/drawing/2014/main" id="{C396592B-73FC-4D4A-8FCC-B1C4E525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51170"/>
            <a:ext cx="9220200" cy="464820"/>
          </a:xfrm>
          <a:prstGeom xmlns:a="http://schemas.openxmlformats.org/drawingml/2006/main" prst="roundRect">
            <a:avLst>
              <a:gd name="adj" fmla="val 12295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1D3551"/>
            </a:solidFill>
            <a:prstDash val="solid"/>
          </a:ln>
        </p:spPr>
      </p:sp>
      <p:sp>
        <p:nvSpPr>
          <p:cNvPr id="49" name="code-text-BERRY0_X,">
            <a:extLst xmlns:a="http://schemas.openxmlformats.org/drawingml/2006/main">
              <a:ext uri="{FF2B5EF4-FFF2-40B4-BE49-F238E27FC236}">
                <a16:creationId xmlns:a16="http://schemas.microsoft.com/office/drawing/2014/main" id="{396C706B-2AD2-4578-BFB4-2AAC1289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38800"/>
            <a:ext cx="8877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D3EE"/>
                </a:solidFill>
              </a:defRPr>
            </a:pPr>
            <a:r>
              <a:rPr sz="1800">
                <a:solidFill>
                  <a:srgbClr val="22D3EE"/>
                </a:solidFill>
              </a:rPr>
              <a:t>BERRY0_X, BERRY0_Y  // top-left tile</a:t>
            </a:r>
          </a:p>
        </p:txBody>
      </p:sp>
      <p:sp>
        <p:nvSpPr>
          <p:cNvPr id="50" name="code-tx &gt;= BERR">
            <a:extLst xmlns:a="http://schemas.openxmlformats.org/drawingml/2006/main">
              <a:ext uri="{FF2B5EF4-FFF2-40B4-BE49-F238E27FC236}">
                <a16:creationId xmlns:a16="http://schemas.microsoft.com/office/drawing/2014/main" id="{8E2D52CB-44F4-47F2-93E8-E4A615C8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168390"/>
            <a:ext cx="9220200" cy="464820"/>
          </a:xfrm>
          <a:prstGeom xmlns:a="http://schemas.openxmlformats.org/drawingml/2006/main" prst="roundRect">
            <a:avLst>
              <a:gd name="adj" fmla="val 12295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1D3551"/>
            </a:solidFill>
            <a:prstDash val="solid"/>
          </a:ln>
        </p:spPr>
      </p:sp>
      <p:sp>
        <p:nvSpPr>
          <p:cNvPr id="51" name="code-text-tx &gt;= BERR">
            <a:extLst xmlns:a="http://schemas.openxmlformats.org/drawingml/2006/main">
              <a:ext uri="{FF2B5EF4-FFF2-40B4-BE49-F238E27FC236}">
                <a16:creationId xmlns:a16="http://schemas.microsoft.com/office/drawing/2014/main" id="{791BA7D5-2B52-417D-B94A-13B9D779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267450"/>
            <a:ext cx="8877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D399"/>
                </a:solidFill>
              </a:defRPr>
            </a:pPr>
            <a:r>
              <a:rPr sz="1800">
                <a:solidFill>
                  <a:srgbClr val="34D399"/>
                </a:solidFill>
              </a:rPr>
              <a:t>tx &gt;= BERRY_X &amp;&amp; tx &lt;= BERRY_X + 1</a:t>
            </a:r>
          </a:p>
        </p:txBody>
      </p:sp>
      <p:sp>
        <p:nvSpPr>
          <p:cNvPr id="52" name="note-The `berries">
            <a:extLst xmlns:a="http://schemas.openxmlformats.org/drawingml/2006/main">
              <a:ext uri="{FF2B5EF4-FFF2-40B4-BE49-F238E27FC236}">
                <a16:creationId xmlns:a16="http://schemas.microsoft.com/office/drawing/2014/main" id="{955E071C-D95E-46F4-A5FE-0002A089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781800"/>
            <a:ext cx="922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9"/>
                </a:solidFill>
              </a:defRPr>
            </a:pPr>
            <a:r>
              <a:rPr sz="1800">
                <a:solidFill>
                  <a:srgbClr val="B8C7D9"/>
                </a:solidFill>
              </a:rPr>
              <a:t>The `berries_present` register controls which of those 2×2 footprints still exists.</a:t>
            </a:r>
          </a:p>
        </p:txBody>
      </p:sp>
    </p:spTree>
    <p:extLst>
      <p:ext uri="{BB962C8B-B14F-4D97-AF65-F5344CB8AC3E}">
        <p14:creationId xmlns:p14="http://schemas.microsoft.com/office/powerpoint/2010/main" val="13657049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FE7A851D-5691-4590-AD5D-10158DAC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E20DB-F59D-4A79-92F4-D9D686FE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6649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`berries_present` is the source of truth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70B448C-95F8-4654-993D-68BA690D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10344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8C7D9"/>
                </a:solidFill>
              </a:defRPr>
            </a:pPr>
            <a:r>
              <a:rPr sz="1875">
                <a:solidFill>
                  <a:srgbClr val="B8C7D9"/>
                </a:solidFill>
              </a:rPr>
              <a:t>Five bits represent five strawberries. Reset or spike restores all bits; collection clears just the touched berry.</a:t>
            </a:r>
          </a:p>
        </p:txBody>
      </p:sp>
      <p:sp>
        <p:nvSpPr>
          <p:cNvPr id="4" name="label-Before colle">
            <a:extLst xmlns:a="http://schemas.openxmlformats.org/drawingml/2006/main">
              <a:ext uri="{FF2B5EF4-FFF2-40B4-BE49-F238E27FC236}">
                <a16:creationId xmlns:a16="http://schemas.microsoft.com/office/drawing/2014/main" id="{30CEA6B4-773F-4F37-B194-1CCD2FA6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807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BBF24"/>
                </a:solidFill>
              </a:defRPr>
            </a:pPr>
            <a:r>
              <a:rPr sz="1650" b="1">
                <a:solidFill>
                  <a:srgbClr val="FBBF24"/>
                </a:solidFill>
              </a:rPr>
              <a:t>Before collection</a:t>
            </a:r>
          </a:p>
        </p:txBody>
      </p:sp>
      <p:sp>
        <p:nvSpPr>
          <p:cNvPr id="5" name="code-berries_pr">
            <a:extLst xmlns:a="http://schemas.openxmlformats.org/drawingml/2006/main">
              <a:ext uri="{FF2B5EF4-FFF2-40B4-BE49-F238E27FC236}">
                <a16:creationId xmlns:a16="http://schemas.microsoft.com/office/drawing/2014/main" id="{28A16BA3-DE52-4513-9ECE-A58BC1F5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8067675" cy="464820"/>
          </a:xfrm>
          <a:prstGeom xmlns:a="http://schemas.openxmlformats.org/drawingml/2006/main" prst="roundRect">
            <a:avLst>
              <a:gd name="adj" fmla="val 12295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1D3551"/>
            </a:solidFill>
            <a:prstDash val="solid"/>
          </a:ln>
        </p:spPr>
      </p:sp>
      <p:sp>
        <p:nvSpPr>
          <p:cNvPr id="6" name="code-text-berries_pr">
            <a:extLst xmlns:a="http://schemas.openxmlformats.org/drawingml/2006/main">
              <a:ext uri="{FF2B5EF4-FFF2-40B4-BE49-F238E27FC236}">
                <a16:creationId xmlns:a16="http://schemas.microsoft.com/office/drawing/2014/main" id="{30D1C460-AD93-4461-A5DF-EB3FE50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D399"/>
                </a:solidFill>
              </a:defRPr>
            </a:pPr>
            <a:r>
              <a:rPr sz="1800">
                <a:solidFill>
                  <a:srgbClr val="34D399"/>
                </a:solidFill>
              </a:rPr>
              <a:t>berries_present = 5'b11111</a:t>
            </a:r>
          </a:p>
        </p:txBody>
      </p:sp>
      <p:sp>
        <p:nvSpPr>
          <p:cNvPr id="7" name="note-All five str">
            <a:extLst xmlns:a="http://schemas.openxmlformats.org/drawingml/2006/main">
              <a:ext uri="{FF2B5EF4-FFF2-40B4-BE49-F238E27FC236}">
                <a16:creationId xmlns:a16="http://schemas.microsoft.com/office/drawing/2014/main" id="{06C72503-9202-4F04-965D-AD1B5123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807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9"/>
                </a:solidFill>
              </a:defRPr>
            </a:pPr>
            <a:r>
              <a:rPr sz="1800">
                <a:solidFill>
                  <a:srgbClr val="B8C7D9"/>
                </a:solidFill>
              </a:rPr>
              <a:t>All five strawberries draw and can be collected.</a:t>
            </a:r>
          </a:p>
        </p:txBody>
      </p:sp>
      <p:sp>
        <p:nvSpPr>
          <p:cNvPr id="8" name="label-After touchi">
            <a:extLst xmlns:a="http://schemas.openxmlformats.org/drawingml/2006/main">
              <a:ext uri="{FF2B5EF4-FFF2-40B4-BE49-F238E27FC236}">
                <a16:creationId xmlns:a16="http://schemas.microsoft.com/office/drawing/2014/main" id="{EE841A25-E9EE-48C6-9831-C189A8AA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76450"/>
            <a:ext cx="807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BBF24"/>
                </a:solidFill>
              </a:defRPr>
            </a:pPr>
            <a:r>
              <a:rPr sz="1650" b="1">
                <a:solidFill>
                  <a:srgbClr val="FBBF24"/>
                </a:solidFill>
              </a:rPr>
              <a:t>After touching berry 2</a:t>
            </a:r>
          </a:p>
        </p:txBody>
      </p:sp>
      <p:sp>
        <p:nvSpPr>
          <p:cNvPr id="9" name="code-touched_be">
            <a:extLst xmlns:a="http://schemas.openxmlformats.org/drawingml/2006/main">
              <a:ext uri="{FF2B5EF4-FFF2-40B4-BE49-F238E27FC236}">
                <a16:creationId xmlns:a16="http://schemas.microsoft.com/office/drawing/2014/main" id="{6349D3F1-C5D1-460A-9C6D-A36B1781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95550"/>
            <a:ext cx="8067675" cy="464820"/>
          </a:xfrm>
          <a:prstGeom xmlns:a="http://schemas.openxmlformats.org/drawingml/2006/main" prst="roundRect">
            <a:avLst>
              <a:gd name="adj" fmla="val 12295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1D3551"/>
            </a:solidFill>
            <a:prstDash val="solid"/>
          </a:ln>
        </p:spPr>
      </p:sp>
      <p:sp>
        <p:nvSpPr>
          <p:cNvPr id="10" name="code-text-touched_be">
            <a:extLst xmlns:a="http://schemas.openxmlformats.org/drawingml/2006/main">
              <a:ext uri="{FF2B5EF4-FFF2-40B4-BE49-F238E27FC236}">
                <a16:creationId xmlns:a16="http://schemas.microsoft.com/office/drawing/2014/main" id="{D490D07D-099D-442E-9FDA-443F980A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9080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43F5E"/>
                </a:solidFill>
              </a:defRPr>
            </a:pPr>
            <a:r>
              <a:rPr sz="1800">
                <a:solidFill>
                  <a:srgbClr val="F43F5E"/>
                </a:solidFill>
              </a:rPr>
              <a:t>touched_berries = 5'b00100</a:t>
            </a:r>
          </a:p>
        </p:txBody>
      </p:sp>
      <p:sp>
        <p:nvSpPr>
          <p:cNvPr id="11" name="code-berries_pr">
            <a:extLst xmlns:a="http://schemas.openxmlformats.org/drawingml/2006/main">
              <a:ext uri="{FF2B5EF4-FFF2-40B4-BE49-F238E27FC236}">
                <a16:creationId xmlns:a16="http://schemas.microsoft.com/office/drawing/2014/main" id="{06561D09-2492-4D75-A441-4F4F1548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131820"/>
            <a:ext cx="8067675" cy="464820"/>
          </a:xfrm>
          <a:prstGeom xmlns:a="http://schemas.openxmlformats.org/drawingml/2006/main" prst="roundRect">
            <a:avLst>
              <a:gd name="adj" fmla="val 12295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1D3551"/>
            </a:solidFill>
            <a:prstDash val="solid"/>
          </a:ln>
        </p:spPr>
      </p:sp>
      <p:sp>
        <p:nvSpPr>
          <p:cNvPr id="12" name="code-text-berries_pr">
            <a:extLst xmlns:a="http://schemas.openxmlformats.org/drawingml/2006/main">
              <a:ext uri="{FF2B5EF4-FFF2-40B4-BE49-F238E27FC236}">
                <a16:creationId xmlns:a16="http://schemas.microsoft.com/office/drawing/2014/main" id="{9EAA626E-2123-4638-8C05-5DDE8931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7734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D3EE"/>
                </a:solidFill>
              </a:defRPr>
            </a:pPr>
            <a:r>
              <a:rPr sz="1800">
                <a:solidFill>
                  <a:srgbClr val="22D3EE"/>
                </a:solidFill>
              </a:rPr>
              <a:t>berries_present &lt;= berries_present &amp; ~touched_berries</a:t>
            </a:r>
          </a:p>
        </p:txBody>
      </p:sp>
      <p:sp>
        <p:nvSpPr>
          <p:cNvPr id="13" name="note-Only berry 2">
            <a:extLst xmlns:a="http://schemas.openxmlformats.org/drawingml/2006/main">
              <a:ext uri="{FF2B5EF4-FFF2-40B4-BE49-F238E27FC236}">
                <a16:creationId xmlns:a16="http://schemas.microsoft.com/office/drawing/2014/main" id="{A882072D-ED58-4272-9D43-803BF19D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71900"/>
            <a:ext cx="807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9"/>
                </a:solidFill>
              </a:defRPr>
            </a:pPr>
            <a:r>
              <a:rPr sz="1800">
                <a:solidFill>
                  <a:srgbClr val="B8C7D9"/>
                </a:solidFill>
              </a:rPr>
              <a:t>Only berry 2 disappears; the other bits stay live.</a:t>
            </a:r>
          </a:p>
        </p:txBody>
      </p:sp>
    </p:spTree>
    <p:extLst>
      <p:ext uri="{BB962C8B-B14F-4D97-AF65-F5344CB8AC3E}">
        <p14:creationId xmlns:p14="http://schemas.microsoft.com/office/powerpoint/2010/main" val="19659883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5BD07325-49D8-4C23-90E9-EAD3D87E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E874C7-A003-4601-A952-B9A0D5EA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6649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Collection checks both current and next corners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8F10552-A1AF-40D0-8F12-F8084CE5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9467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8C7D9"/>
                </a:solidFill>
              </a:defRPr>
            </a:pPr>
            <a:r>
              <a:rPr sz="1875">
                <a:solidFill>
                  <a:srgbClr val="B8C7D9"/>
                </a:solidFill>
              </a:rPr>
              <a:t>That avoids missing berries during dashes and keeps visual contact aligned with gameplay contact.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95878-4B6B-4EE1-8FA0-335A82DD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6667500" cy="36576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0B1626"/>
          </a:solidFill>
        </p:spPr>
      </p:sp>
      <p:sp>
        <p:nvSpPr>
          <p:cNvPr id="5" name="cell-0-0">
            <a:extLst xmlns:a="http://schemas.openxmlformats.org/drawingml/2006/main">
              <a:ext uri="{FF2B5EF4-FFF2-40B4-BE49-F238E27FC236}">
                <a16:creationId xmlns:a16="http://schemas.microsoft.com/office/drawing/2014/main" id="{3CAFBCE1-8B12-496C-A678-05BA4871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053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6" name="cell-1-0">
            <a:extLst xmlns:a="http://schemas.openxmlformats.org/drawingml/2006/main">
              <a:ext uri="{FF2B5EF4-FFF2-40B4-BE49-F238E27FC236}">
                <a16:creationId xmlns:a16="http://schemas.microsoft.com/office/drawing/2014/main" id="{E0DF070C-7DD0-4A7E-81A8-F2A6B40F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053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7" name="cell-2-0">
            <a:extLst xmlns:a="http://schemas.openxmlformats.org/drawingml/2006/main">
              <a:ext uri="{FF2B5EF4-FFF2-40B4-BE49-F238E27FC236}">
                <a16:creationId xmlns:a16="http://schemas.microsoft.com/office/drawing/2014/main" id="{A1B06F40-4BEC-4031-8E73-26C26830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053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8" name="cell-3-0">
            <a:extLst xmlns:a="http://schemas.openxmlformats.org/drawingml/2006/main">
              <a:ext uri="{FF2B5EF4-FFF2-40B4-BE49-F238E27FC236}">
                <a16:creationId xmlns:a16="http://schemas.microsoft.com/office/drawing/2014/main" id="{D1C6AFFB-A1B7-4DC6-9994-41275C55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053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9" name="cell-4-0">
            <a:extLst xmlns:a="http://schemas.openxmlformats.org/drawingml/2006/main">
              <a:ext uri="{FF2B5EF4-FFF2-40B4-BE49-F238E27FC236}">
                <a16:creationId xmlns:a16="http://schemas.microsoft.com/office/drawing/2014/main" id="{1DB715F9-E218-4E6D-9F1E-C2E5E55D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053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0" name="cell-5-0">
            <a:extLst xmlns:a="http://schemas.openxmlformats.org/drawingml/2006/main">
              <a:ext uri="{FF2B5EF4-FFF2-40B4-BE49-F238E27FC236}">
                <a16:creationId xmlns:a16="http://schemas.microsoft.com/office/drawing/2014/main" id="{35C86414-C106-42A7-A829-DA1EF0FB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1" name="cell-6-0">
            <a:extLst xmlns:a="http://schemas.openxmlformats.org/drawingml/2006/main">
              <a:ext uri="{FF2B5EF4-FFF2-40B4-BE49-F238E27FC236}">
                <a16:creationId xmlns:a16="http://schemas.microsoft.com/office/drawing/2014/main" id="{57E39E7D-F1EE-47AE-8CA8-EC8C9358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053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2" name="cell-7-0">
            <a:extLst xmlns:a="http://schemas.openxmlformats.org/drawingml/2006/main">
              <a:ext uri="{FF2B5EF4-FFF2-40B4-BE49-F238E27FC236}">
                <a16:creationId xmlns:a16="http://schemas.microsoft.com/office/drawing/2014/main" id="{FB8C0E26-4E1F-4F3C-B4C7-73D3F06B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053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1C63F0BB-2D61-4FC3-8B22-815A5363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387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4" name="cell-1-1">
            <a:extLst xmlns:a="http://schemas.openxmlformats.org/drawingml/2006/main">
              <a:ext uri="{FF2B5EF4-FFF2-40B4-BE49-F238E27FC236}">
                <a16:creationId xmlns:a16="http://schemas.microsoft.com/office/drawing/2014/main" id="{E2FEA439-8D69-44C2-B7BB-5A5ABA1E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5" name="cell-2-1">
            <a:extLst xmlns:a="http://schemas.openxmlformats.org/drawingml/2006/main">
              <a:ext uri="{FF2B5EF4-FFF2-40B4-BE49-F238E27FC236}">
                <a16:creationId xmlns:a16="http://schemas.microsoft.com/office/drawing/2014/main" id="{82ED5708-DDBE-4967-BD1D-AB28C8E3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387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6" name="cell-3-1">
            <a:extLst xmlns:a="http://schemas.openxmlformats.org/drawingml/2006/main">
              <a:ext uri="{FF2B5EF4-FFF2-40B4-BE49-F238E27FC236}">
                <a16:creationId xmlns:a16="http://schemas.microsoft.com/office/drawing/2014/main" id="{5C8964B3-1C41-4BCB-A854-35B8B165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387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7" name="cell-4-1">
            <a:extLst xmlns:a="http://schemas.openxmlformats.org/drawingml/2006/main">
              <a:ext uri="{FF2B5EF4-FFF2-40B4-BE49-F238E27FC236}">
                <a16:creationId xmlns:a16="http://schemas.microsoft.com/office/drawing/2014/main" id="{E4651E81-E02E-4400-B14D-0AE4ED4A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387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8" name="cell-5-1">
            <a:extLst xmlns:a="http://schemas.openxmlformats.org/drawingml/2006/main">
              <a:ext uri="{FF2B5EF4-FFF2-40B4-BE49-F238E27FC236}">
                <a16:creationId xmlns:a16="http://schemas.microsoft.com/office/drawing/2014/main" id="{4B7B0776-CAC9-41B0-B833-51F4AB21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387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19" name="cell-6-1">
            <a:extLst xmlns:a="http://schemas.openxmlformats.org/drawingml/2006/main">
              <a:ext uri="{FF2B5EF4-FFF2-40B4-BE49-F238E27FC236}">
                <a16:creationId xmlns:a16="http://schemas.microsoft.com/office/drawing/2014/main" id="{A6ECC205-6C02-44A8-B807-D809CDD2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387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0" name="cell-7-1">
            <a:extLst xmlns:a="http://schemas.openxmlformats.org/drawingml/2006/main">
              <a:ext uri="{FF2B5EF4-FFF2-40B4-BE49-F238E27FC236}">
                <a16:creationId xmlns:a16="http://schemas.microsoft.com/office/drawing/2014/main" id="{0C21D260-9BAB-4DC7-8C34-4BB631DD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387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1" name="cell-0-2">
            <a:extLst xmlns:a="http://schemas.openxmlformats.org/drawingml/2006/main">
              <a:ext uri="{FF2B5EF4-FFF2-40B4-BE49-F238E27FC236}">
                <a16:creationId xmlns:a16="http://schemas.microsoft.com/office/drawing/2014/main" id="{775DE805-7FD2-48C3-8400-BB3CA117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72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2" name="cell-1-2">
            <a:extLst xmlns:a="http://schemas.openxmlformats.org/drawingml/2006/main">
              <a:ext uri="{FF2B5EF4-FFF2-40B4-BE49-F238E27FC236}">
                <a16:creationId xmlns:a16="http://schemas.microsoft.com/office/drawing/2014/main" id="{A8D3A68A-A23C-4EA1-A07D-C714A3B1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372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3" name="cell-2-2">
            <a:extLst xmlns:a="http://schemas.openxmlformats.org/drawingml/2006/main">
              <a:ext uri="{FF2B5EF4-FFF2-40B4-BE49-F238E27FC236}">
                <a16:creationId xmlns:a16="http://schemas.microsoft.com/office/drawing/2014/main" id="{41ECCA60-07D2-483E-99EA-9BB1487C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72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4" name="cell-3-2">
            <a:extLst xmlns:a="http://schemas.openxmlformats.org/drawingml/2006/main">
              <a:ext uri="{FF2B5EF4-FFF2-40B4-BE49-F238E27FC236}">
                <a16:creationId xmlns:a16="http://schemas.microsoft.com/office/drawing/2014/main" id="{96626120-1113-47CB-9043-A688398B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72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5" name="cell-4-2">
            <a:extLst xmlns:a="http://schemas.openxmlformats.org/drawingml/2006/main">
              <a:ext uri="{FF2B5EF4-FFF2-40B4-BE49-F238E27FC236}">
                <a16:creationId xmlns:a16="http://schemas.microsoft.com/office/drawing/2014/main" id="{92C6B06F-33BB-4C3D-95AB-CE868B54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372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6" name="cell-5-2">
            <a:extLst xmlns:a="http://schemas.openxmlformats.org/drawingml/2006/main">
              <a:ext uri="{FF2B5EF4-FFF2-40B4-BE49-F238E27FC236}">
                <a16:creationId xmlns:a16="http://schemas.microsoft.com/office/drawing/2014/main" id="{024D744E-B250-4A78-ACDF-F13415B5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72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7" name="cell-6-2">
            <a:extLst xmlns:a="http://schemas.openxmlformats.org/drawingml/2006/main">
              <a:ext uri="{FF2B5EF4-FFF2-40B4-BE49-F238E27FC236}">
                <a16:creationId xmlns:a16="http://schemas.microsoft.com/office/drawing/2014/main" id="{6756BC58-B3F5-4DC8-A7EF-8139BA94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72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8" name="cell-7-2">
            <a:extLst xmlns:a="http://schemas.openxmlformats.org/drawingml/2006/main">
              <a:ext uri="{FF2B5EF4-FFF2-40B4-BE49-F238E27FC236}">
                <a16:creationId xmlns:a16="http://schemas.microsoft.com/office/drawing/2014/main" id="{20648001-024F-4870-9203-F2B76A95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372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29" name="cell-0-3">
            <a:extLst xmlns:a="http://schemas.openxmlformats.org/drawingml/2006/main">
              <a:ext uri="{FF2B5EF4-FFF2-40B4-BE49-F238E27FC236}">
                <a16:creationId xmlns:a16="http://schemas.microsoft.com/office/drawing/2014/main" id="{313A2FCB-476C-47D1-8962-54EA50A4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9055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0" name="cell-1-3">
            <a:extLst xmlns:a="http://schemas.openxmlformats.org/drawingml/2006/main">
              <a:ext uri="{FF2B5EF4-FFF2-40B4-BE49-F238E27FC236}">
                <a16:creationId xmlns:a16="http://schemas.microsoft.com/office/drawing/2014/main" id="{A8224F9D-D0CC-48CB-AE08-08BF3CDF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9055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1" name="cell-2-3">
            <a:extLst xmlns:a="http://schemas.openxmlformats.org/drawingml/2006/main">
              <a:ext uri="{FF2B5EF4-FFF2-40B4-BE49-F238E27FC236}">
                <a16:creationId xmlns:a16="http://schemas.microsoft.com/office/drawing/2014/main" id="{B5E380CC-EEED-4797-9E8F-0320905D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9055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2" name="cell-3-3">
            <a:extLst xmlns:a="http://schemas.openxmlformats.org/drawingml/2006/main">
              <a:ext uri="{FF2B5EF4-FFF2-40B4-BE49-F238E27FC236}">
                <a16:creationId xmlns:a16="http://schemas.microsoft.com/office/drawing/2014/main" id="{37CFAD67-3049-41A3-B2AE-2BA65246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9055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3" name="cell-4-3">
            <a:extLst xmlns:a="http://schemas.openxmlformats.org/drawingml/2006/main">
              <a:ext uri="{FF2B5EF4-FFF2-40B4-BE49-F238E27FC236}">
                <a16:creationId xmlns:a16="http://schemas.microsoft.com/office/drawing/2014/main" id="{616BEF31-88ED-4FD3-8339-2EB278C2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9055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4" name="cell-5-3">
            <a:extLst xmlns:a="http://schemas.openxmlformats.org/drawingml/2006/main">
              <a:ext uri="{FF2B5EF4-FFF2-40B4-BE49-F238E27FC236}">
                <a16:creationId xmlns:a16="http://schemas.microsoft.com/office/drawing/2014/main" id="{A260CB16-5A37-451A-A1AB-41FE647A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055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5" name="cell-6-3">
            <a:extLst xmlns:a="http://schemas.openxmlformats.org/drawingml/2006/main">
              <a:ext uri="{FF2B5EF4-FFF2-40B4-BE49-F238E27FC236}">
                <a16:creationId xmlns:a16="http://schemas.microsoft.com/office/drawing/2014/main" id="{DB3F89DD-68B0-47AC-94AA-615FCB3C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9055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6" name="cell-7-3">
            <a:extLst xmlns:a="http://schemas.openxmlformats.org/drawingml/2006/main">
              <a:ext uri="{FF2B5EF4-FFF2-40B4-BE49-F238E27FC236}">
                <a16:creationId xmlns:a16="http://schemas.microsoft.com/office/drawing/2014/main" id="{A69AA89C-BBD1-42A8-B835-9A7DC34F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9055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7" name="cell-0-4">
            <a:extLst xmlns:a="http://schemas.openxmlformats.org/drawingml/2006/main">
              <a:ext uri="{FF2B5EF4-FFF2-40B4-BE49-F238E27FC236}">
                <a16:creationId xmlns:a16="http://schemas.microsoft.com/office/drawing/2014/main" id="{D60E40F4-2604-44D3-AF79-20ADF6C3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389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8" name="cell-1-4">
            <a:extLst xmlns:a="http://schemas.openxmlformats.org/drawingml/2006/main">
              <a:ext uri="{FF2B5EF4-FFF2-40B4-BE49-F238E27FC236}">
                <a16:creationId xmlns:a16="http://schemas.microsoft.com/office/drawing/2014/main" id="{43B45589-11BE-4A7F-9AB2-F417767B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4389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39" name="cell-2-4">
            <a:extLst xmlns:a="http://schemas.openxmlformats.org/drawingml/2006/main">
              <a:ext uri="{FF2B5EF4-FFF2-40B4-BE49-F238E27FC236}">
                <a16:creationId xmlns:a16="http://schemas.microsoft.com/office/drawing/2014/main" id="{E267EA2B-0421-4A00-9678-8844054C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4389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40" name="cell-3-4">
            <a:extLst xmlns:a="http://schemas.openxmlformats.org/drawingml/2006/main">
              <a:ext uri="{FF2B5EF4-FFF2-40B4-BE49-F238E27FC236}">
                <a16:creationId xmlns:a16="http://schemas.microsoft.com/office/drawing/2014/main" id="{A90E28F2-ADD9-49D8-833C-3DDE7985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4389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41" name="cell-4-4">
            <a:extLst xmlns:a="http://schemas.openxmlformats.org/drawingml/2006/main">
              <a:ext uri="{FF2B5EF4-FFF2-40B4-BE49-F238E27FC236}">
                <a16:creationId xmlns:a16="http://schemas.microsoft.com/office/drawing/2014/main" id="{8A4D00F6-F8F8-47F2-AC09-201EC59C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4389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42" name="cell-5-4">
            <a:extLst xmlns:a="http://schemas.openxmlformats.org/drawingml/2006/main">
              <a:ext uri="{FF2B5EF4-FFF2-40B4-BE49-F238E27FC236}">
                <a16:creationId xmlns:a16="http://schemas.microsoft.com/office/drawing/2014/main" id="{975CE808-7A51-44FA-B529-586C528E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4389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43" name="cell-6-4">
            <a:extLst xmlns:a="http://schemas.openxmlformats.org/drawingml/2006/main">
              <a:ext uri="{FF2B5EF4-FFF2-40B4-BE49-F238E27FC236}">
                <a16:creationId xmlns:a16="http://schemas.microsoft.com/office/drawing/2014/main" id="{A32E286F-34BF-496B-A03A-BF45E25E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389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44" name="cell-7-4">
            <a:extLst xmlns:a="http://schemas.openxmlformats.org/drawingml/2006/main">
              <a:ext uri="{FF2B5EF4-FFF2-40B4-BE49-F238E27FC236}">
                <a16:creationId xmlns:a16="http://schemas.microsoft.com/office/drawing/2014/main" id="{26A915AF-956B-47A3-BF64-EAABD836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4389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28476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E8891C-9E9F-4599-833C-4EA0A486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124700"/>
            <a:ext cx="6134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current corners + next corners</a:t>
            </a:r>
          </a:p>
        </p:txBody>
      </p:sp>
      <p:sp>
        <p:nvSpPr>
          <p:cNvPr id="46" name="code-berry_mask">
            <a:extLst xmlns:a="http://schemas.openxmlformats.org/drawingml/2006/main">
              <a:ext uri="{FF2B5EF4-FFF2-40B4-BE49-F238E27FC236}">
                <a16:creationId xmlns:a16="http://schemas.microsoft.com/office/drawing/2014/main" id="{E5F47587-0B19-4A6D-B81D-BFBF1C75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86300"/>
            <a:ext cx="9525000" cy="464820"/>
          </a:xfrm>
          <a:prstGeom xmlns:a="http://schemas.openxmlformats.org/drawingml/2006/main" prst="roundRect">
            <a:avLst>
              <a:gd name="adj" fmla="val 12295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1D3551"/>
            </a:solidFill>
            <a:prstDash val="solid"/>
          </a:ln>
        </p:spPr>
      </p:sp>
      <p:sp>
        <p:nvSpPr>
          <p:cNvPr id="47" name="code-text-berry_mask">
            <a:extLst xmlns:a="http://schemas.openxmlformats.org/drawingml/2006/main">
              <a:ext uri="{FF2B5EF4-FFF2-40B4-BE49-F238E27FC236}">
                <a16:creationId xmlns:a16="http://schemas.microsoft.com/office/drawing/2014/main" id="{9A24B7C7-911A-4DEC-A1A5-EABEC5EE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81550"/>
            <a:ext cx="9182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D3EE"/>
                </a:solidFill>
              </a:defRPr>
            </a:pPr>
            <a:r>
              <a:rPr sz="1800">
                <a:solidFill>
                  <a:srgbClr val="22D3EE"/>
                </a:solidFill>
              </a:rPr>
              <a:t>berry_mask(player_left, player_top)</a:t>
            </a:r>
          </a:p>
        </p:txBody>
      </p:sp>
      <p:sp>
        <p:nvSpPr>
          <p:cNvPr id="48" name="code-berry_mask">
            <a:extLst xmlns:a="http://schemas.openxmlformats.org/drawingml/2006/main">
              <a:ext uri="{FF2B5EF4-FFF2-40B4-BE49-F238E27FC236}">
                <a16:creationId xmlns:a16="http://schemas.microsoft.com/office/drawing/2014/main" id="{D0FD6241-3FE3-4BB1-B120-434FF397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84470"/>
            <a:ext cx="9525000" cy="464820"/>
          </a:xfrm>
          <a:prstGeom xmlns:a="http://schemas.openxmlformats.org/drawingml/2006/main" prst="roundRect">
            <a:avLst>
              <a:gd name="adj" fmla="val 12295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1D3551"/>
            </a:solidFill>
            <a:prstDash val="solid"/>
          </a:ln>
        </p:spPr>
      </p:sp>
      <p:sp>
        <p:nvSpPr>
          <p:cNvPr id="49" name="code-text-berry_mask">
            <a:extLst xmlns:a="http://schemas.openxmlformats.org/drawingml/2006/main">
              <a:ext uri="{FF2B5EF4-FFF2-40B4-BE49-F238E27FC236}">
                <a16:creationId xmlns:a16="http://schemas.microsoft.com/office/drawing/2014/main" id="{546E7DF8-BD4B-4B87-9E69-A7DD628F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72100"/>
            <a:ext cx="9182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D3EE"/>
                </a:solidFill>
              </a:defRPr>
            </a:pPr>
            <a:r>
              <a:rPr sz="1800">
                <a:solidFill>
                  <a:srgbClr val="22D3EE"/>
                </a:solidFill>
              </a:rPr>
              <a:t>berry_mask(player_right, player_bottom)</a:t>
            </a:r>
          </a:p>
        </p:txBody>
      </p:sp>
      <p:sp>
        <p:nvSpPr>
          <p:cNvPr id="50" name="code-berry_mask">
            <a:extLst xmlns:a="http://schemas.openxmlformats.org/drawingml/2006/main">
              <a:ext uri="{FF2B5EF4-FFF2-40B4-BE49-F238E27FC236}">
                <a16:creationId xmlns:a16="http://schemas.microsoft.com/office/drawing/2014/main" id="{B429893A-CA6F-44C8-BF9C-DB44F480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882640"/>
            <a:ext cx="9525000" cy="464820"/>
          </a:xfrm>
          <a:prstGeom xmlns:a="http://schemas.openxmlformats.org/drawingml/2006/main" prst="roundRect">
            <a:avLst>
              <a:gd name="adj" fmla="val 12295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1D3551"/>
            </a:solidFill>
            <a:prstDash val="solid"/>
          </a:ln>
        </p:spPr>
      </p:sp>
      <p:sp>
        <p:nvSpPr>
          <p:cNvPr id="51" name="code-text-berry_mask">
            <a:extLst xmlns:a="http://schemas.openxmlformats.org/drawingml/2006/main">
              <a:ext uri="{FF2B5EF4-FFF2-40B4-BE49-F238E27FC236}">
                <a16:creationId xmlns:a16="http://schemas.microsoft.com/office/drawing/2014/main" id="{0DA8B30B-8586-4C39-A41D-9800768F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981700"/>
            <a:ext cx="9182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D399"/>
                </a:solidFill>
              </a:defRPr>
            </a:pPr>
            <a:r>
              <a:rPr sz="1800">
                <a:solidFill>
                  <a:srgbClr val="34D399"/>
                </a:solidFill>
              </a:rPr>
              <a:t>berry_mask(left, top) | berry_mask(right, bottom)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4DFE52-2A93-43E4-B1B8-2C1D3C97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47700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F43F5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0E55BC-781C-48FE-A5CD-C7C9AD21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648450"/>
            <a:ext cx="952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8FAFC"/>
                </a:solidFill>
              </a:defRPr>
            </a:pPr>
            <a:r>
              <a:rPr sz="2325" b="1">
                <a:solidFill>
                  <a:srgbClr val="F8FAFC"/>
                </a:solidFill>
              </a:rPr>
              <a:t>All masks OR together into `touched_berries`.</a:t>
            </a:r>
          </a:p>
        </p:txBody>
      </p:sp>
    </p:spTree>
    <p:extLst>
      <p:ext uri="{BB962C8B-B14F-4D97-AF65-F5344CB8AC3E}">
        <p14:creationId xmlns:p14="http://schemas.microsoft.com/office/powerpoint/2010/main" val="4866113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3A834D18-4C4A-409B-8DC4-C9A7D49E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4BF2EB-B9A1-4C23-A26D-CF79D4FA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6649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The FSM turns overlap into one score pulse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05C2714-9D19-428F-828A-E804BBD5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8591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8C7D9"/>
                </a:solidFill>
              </a:defRPr>
            </a:pPr>
            <a:r>
              <a:rPr sz="1875">
                <a:solidFill>
                  <a:srgbClr val="B8C7D9"/>
                </a:solidFill>
              </a:rPr>
              <a:t>Without the pulse, the score would climb every clock while the player overlaps the berry.</a:t>
            </a:r>
          </a:p>
        </p:txBody>
      </p:sp>
      <p:sp>
        <p:nvSpPr>
          <p:cNvPr id="4" name="info-BERRIES_READY">
            <a:extLst xmlns:a="http://schemas.openxmlformats.org/drawingml/2006/main">
              <a:ext uri="{FF2B5EF4-FFF2-40B4-BE49-F238E27FC236}">
                <a16:creationId xmlns:a16="http://schemas.microsoft.com/office/drawing/2014/main" id="{D0D0A713-4B0E-43B3-8A9E-2C388580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394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2244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A3F40-A8AE-471A-BFA2-48911FAA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4500"/>
            <a:ext cx="340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D3EE"/>
                </a:solidFill>
              </a:defRPr>
            </a:pPr>
            <a:r>
              <a:rPr sz="2100" b="1">
                <a:solidFill>
                  <a:srgbClr val="22D3EE"/>
                </a:solidFill>
              </a:rPr>
              <a:t>BERRIES_READY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9AEF7-E4F0-4E0F-8858-6CAEAECA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62650"/>
            <a:ext cx="3409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Wait until `(berries_present &amp; touched_berries)` is nonzero.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B915B-3C69-435E-AA2D-C170CA26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76900"/>
            <a:ext cx="1714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BBF24"/>
                </a:solidFill>
              </a:defRPr>
            </a:pPr>
            <a:r>
              <a:rPr sz="3150" b="1">
                <a:solidFill>
                  <a:srgbClr val="FBBF24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B4C51-5DC0-46E1-A8EC-186F4636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1531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890AA"/>
                </a:solidFill>
              </a:defRPr>
            </a:pPr>
            <a:r>
              <a:rPr sz="1050">
                <a:solidFill>
                  <a:srgbClr val="7890AA"/>
                </a:solidFill>
              </a:rPr>
              <a:t>overlap</a:t>
            </a:r>
          </a:p>
        </p:txBody>
      </p:sp>
      <p:sp>
        <p:nvSpPr>
          <p:cNvPr id="9" name="info-BERRIES_UPDATE">
            <a:extLst xmlns:a="http://schemas.openxmlformats.org/drawingml/2006/main">
              <a:ext uri="{FF2B5EF4-FFF2-40B4-BE49-F238E27FC236}">
                <a16:creationId xmlns:a16="http://schemas.microsoft.com/office/drawing/2014/main" id="{02AEF7E6-0884-4A72-86E2-ECA8CBBE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150" y="5295900"/>
            <a:ext cx="394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2244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15A64-E9F1-4195-A9B3-7E0F042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24500"/>
            <a:ext cx="340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3F5E"/>
                </a:solidFill>
              </a:defRPr>
            </a:pPr>
            <a:r>
              <a:rPr sz="2100" b="1">
                <a:solidFill>
                  <a:srgbClr val="F43F5E"/>
                </a:solidFill>
              </a:rPr>
              <a:t>BERRIES_UPDATE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96996-C8A2-4723-8311-C50B392A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62650"/>
            <a:ext cx="3409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Clear touched bits and set `collect_pulse` for one clock.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DC25B-6525-4CCB-AE35-1C308ACD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676900"/>
            <a:ext cx="1714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BBF24"/>
                </a:solidFill>
              </a:defRPr>
            </a:pPr>
            <a:r>
              <a:rPr sz="3150" b="1">
                <a:solidFill>
                  <a:srgbClr val="FBBF2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D519E-8E0F-4F57-A960-4AF84A72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1531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890AA"/>
                </a:solidFill>
              </a:defRPr>
            </a:pPr>
            <a:r>
              <a:rPr sz="1050">
                <a:solidFill>
                  <a:srgbClr val="7890AA"/>
                </a:solidFill>
              </a:rPr>
              <a:t>next</a:t>
            </a:r>
          </a:p>
        </p:txBody>
      </p:sp>
      <p:sp>
        <p:nvSpPr>
          <p:cNvPr id="14" name="info-BERRIES_READY">
            <a:extLst xmlns:a="http://schemas.openxmlformats.org/drawingml/2006/main">
              <a:ext uri="{FF2B5EF4-FFF2-40B4-BE49-F238E27FC236}">
                <a16:creationId xmlns:a16="http://schemas.microsoft.com/office/drawing/2014/main" id="{6BF194F2-0BB2-4A86-AA7F-481CBBD9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9150" y="5295900"/>
            <a:ext cx="394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2244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98854-2EDD-4901-A447-D4FA10D8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5524500"/>
            <a:ext cx="340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4D399"/>
                </a:solidFill>
              </a:defRPr>
            </a:pPr>
            <a:r>
              <a:rPr sz="2100" b="1">
                <a:solidFill>
                  <a:srgbClr val="34D399"/>
                </a:solidFill>
              </a:rPr>
              <a:t>BERRIES_READY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77CA5-0366-4EF6-B8A7-A753F322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5962650"/>
            <a:ext cx="3409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Return to waiting. The score saw exactly one pulse.</a:t>
            </a:r>
          </a:p>
        </p:txBody>
      </p:sp>
    </p:spTree>
    <p:extLst>
      <p:ext uri="{BB962C8B-B14F-4D97-AF65-F5344CB8AC3E}">
        <p14:creationId xmlns:p14="http://schemas.microsoft.com/office/powerpoint/2010/main" val="13626996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">
            <a:extLst xmlns:a="http://schemas.openxmlformats.org/drawingml/2006/main">
              <a:ext uri="{FF2B5EF4-FFF2-40B4-BE49-F238E27FC236}">
                <a16:creationId xmlns:a16="http://schemas.microsoft.com/office/drawing/2014/main" id="{099B220B-4648-4B2C-9D3C-35FB3D50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B44831-8AFA-4B42-A49E-736341ED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6649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Rendering and win behavior stay separate from collection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20DF02A-975D-4E21-A96A-C6CDCC24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6724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8C7D9"/>
                </a:solidFill>
              </a:defRPr>
            </a:pPr>
            <a:r>
              <a:rPr sz="1875">
                <a:solidFill>
                  <a:srgbClr val="B8C7D9"/>
                </a:solidFill>
              </a:rPr>
              <a:t>The visible sprite is a presentation of state; the FSM owns game truth.</a:t>
            </a:r>
          </a:p>
        </p:txBody>
      </p:sp>
      <p:sp>
        <p:nvSpPr>
          <p:cNvPr id="4" name="info-Draw priority">
            <a:extLst xmlns:a="http://schemas.openxmlformats.org/drawingml/2006/main">
              <a:ext uri="{FF2B5EF4-FFF2-40B4-BE49-F238E27FC236}">
                <a16:creationId xmlns:a16="http://schemas.microsoft.com/office/drawing/2014/main" id="{50C28C26-82CE-42A0-AE88-5ECA19E1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2640"/>
            <a:ext cx="80962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2244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018C5-1B17-4AD5-88DB-CDDE92DD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7562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BBF24"/>
                </a:solidFill>
              </a:defRPr>
            </a:pPr>
            <a:r>
              <a:rPr sz="2100" b="1">
                <a:solidFill>
                  <a:srgbClr val="FBBF24"/>
                </a:solidFill>
              </a:rPr>
              <a:t>Draw priority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2857A-54B9-4C10-89F5-335A89C4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3200"/>
            <a:ext cx="756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celebration → Madeline → strawberry → spike → solid tile → background</a:t>
            </a:r>
          </a:p>
        </p:txBody>
      </p:sp>
      <p:sp>
        <p:nvSpPr>
          <p:cNvPr id="7" name="info-Sprite scaling">
            <a:extLst xmlns:a="http://schemas.openxmlformats.org/drawingml/2006/main">
              <a:ext uri="{FF2B5EF4-FFF2-40B4-BE49-F238E27FC236}">
                <a16:creationId xmlns:a16="http://schemas.microsoft.com/office/drawing/2014/main" id="{A09159FC-AE2B-4BA3-8071-7AD05974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72640"/>
            <a:ext cx="80962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2244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59973-C089-43BF-8EC5-1EE6CB02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05050"/>
            <a:ext cx="7562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3F5E"/>
                </a:solidFill>
              </a:defRPr>
            </a:pPr>
            <a:r>
              <a:rPr sz="2100" b="1">
                <a:solidFill>
                  <a:srgbClr val="F43F5E"/>
                </a:solidFill>
              </a:rPr>
              <a:t>Sprite scaling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CB4E2-4FA0-470C-8080-3CFCAC36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43200"/>
            <a:ext cx="756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The strawberry ROM is 16×16; VGA maps it across a 32×32, 2×2-tile area.</a:t>
            </a:r>
          </a:p>
        </p:txBody>
      </p:sp>
      <p:sp>
        <p:nvSpPr>
          <p:cNvPr id="10" name="info-Score">
            <a:extLst xmlns:a="http://schemas.openxmlformats.org/drawingml/2006/main">
              <a:ext uri="{FF2B5EF4-FFF2-40B4-BE49-F238E27FC236}">
                <a16:creationId xmlns:a16="http://schemas.microsoft.com/office/drawing/2014/main" id="{B7BA6E60-B440-4A67-8248-BD33B840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4540"/>
            <a:ext cx="8096250" cy="3794760"/>
          </a:xfrm>
          <a:prstGeom xmlns:a="http://schemas.openxmlformats.org/drawingml/2006/main" prst="roundRect">
            <a:avLst>
              <a:gd name="adj" fmla="val 2008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2244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E6156-9AD7-4052-844E-FBA02154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76950"/>
            <a:ext cx="7562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D3EE"/>
                </a:solidFill>
              </a:defRPr>
            </a:pPr>
            <a:r>
              <a:rPr sz="2100" b="1">
                <a:solidFill>
                  <a:srgbClr val="22D3EE"/>
                </a:solidFill>
              </a:rPr>
              <a:t>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ECF0C-D839-4BD1-9AB8-519EE6D0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515100"/>
            <a:ext cx="756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`collect_berry` increments the SSD counter. Reset or spike clears it.</a:t>
            </a:r>
          </a:p>
        </p:txBody>
      </p:sp>
      <p:sp>
        <p:nvSpPr>
          <p:cNvPr id="13" name="info-Win reset">
            <a:extLst xmlns:a="http://schemas.openxmlformats.org/drawingml/2006/main">
              <a:ext uri="{FF2B5EF4-FFF2-40B4-BE49-F238E27FC236}">
                <a16:creationId xmlns:a16="http://schemas.microsoft.com/office/drawing/2014/main" id="{5F18AFB8-FC43-4FDF-97DF-A5621723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844540"/>
            <a:ext cx="8096250" cy="3794760"/>
          </a:xfrm>
          <a:prstGeom xmlns:a="http://schemas.openxmlformats.org/drawingml/2006/main" prst="roundRect">
            <a:avLst>
              <a:gd name="adj" fmla="val 2008"/>
            </a:avLst>
          </a:prstGeom>
          <a:solidFill xmlns:a="http://schemas.openxmlformats.org/drawingml/2006/main">
            <a:srgbClr val="0B1626"/>
          </a:solidFill>
          <a:ln xmlns:a="http://schemas.openxmlformats.org/drawingml/2006/main" w="9525">
            <a:solidFill>
              <a:srgbClr val="2244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D5DB1-8ADE-42A7-B7C6-FCE85917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076950"/>
            <a:ext cx="7562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4D399"/>
                </a:solidFill>
              </a:defRPr>
            </a:pPr>
            <a:r>
              <a:rPr sz="2100" b="1">
                <a:solidFill>
                  <a:srgbClr val="34D399"/>
                </a:solidFill>
              </a:rPr>
              <a:t>Win reset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06108-9809-41CC-B21C-A22F902B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515100"/>
            <a:ext cx="7562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9"/>
                </a:solidFill>
              </a:defRPr>
            </a:pPr>
            <a:r>
              <a:rPr sz="1650">
                <a:solidFill>
                  <a:srgbClr val="B8C7D9"/>
                </a:solidFill>
              </a:rPr>
              <a:t>`all_berries_collected` starts a 10-second timer, shows celebration, then resets the game.</a:t>
            </a:r>
          </a:p>
        </p:txBody>
      </p:sp>
    </p:spTree>
    <p:extLst>
      <p:ext uri="{BB962C8B-B14F-4D97-AF65-F5344CB8AC3E}">
        <p14:creationId xmlns:p14="http://schemas.microsoft.com/office/powerpoint/2010/main" val="632897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2026-04-29T23:40:51.0190000Z</dcterms:created>
  <dcterms:modified xsi:type="dcterms:W3CDTF">2026-04-29T23:40:51.0190000Z</dcterms:modified>
</coreProperties>
</file>